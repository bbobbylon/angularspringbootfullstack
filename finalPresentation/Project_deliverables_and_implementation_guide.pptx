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~0:30 · running to 0:30 of ~18 min. || Open: 'This is TesseraApp, a full-stack customer and invoice platform I built for my master's project. Today we walk through the system and then demo it live.' Introduce both presenters by name. Keep it to two sentences and move on — don't linger on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~0:50 · running to ~1:20. || Frame the tension the whole project resolves: rolling your own auth is where most security bugs live, but buying it has its own costs — per-MAU pricing and lost control. Land the build-vs-buy question out loud; don't answer it yet, that's the payoff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~0:40 · running to ~2:00. || The five objectives are the scorecard for the rest of the talk. Read them briskly — roughly one breath each — and promise the live demo will show every one of them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~0:50 · running to ~2:50. || Position against the landscape left-to-right. Keycloak is the hinge — proof there's a real self-hosted market. TesseraApp sits at the far in-house end, but hybrid. Point at the diagram; do NOT read the vendor list aloud. (Trim this slide first if you're short on time.)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~0:40 · running to ~3:30. || The core idea in one line: zero-trust needs revocability; pure JWT can't revoke, pure sessions don't scale; a hybrid of both resolves it. Plant this seed — the security-model slides (9–11) pay it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~0:45 · running to ~4:15. || SRS in one glance — IEEE 830, numbered FR/NFR. Do NOT read every card. Say one line per card, then note that MFA and reuse detection were 'planned' stretch goals that actually shipped.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~0:55 · running to ~5:10. || Walk the three-tier diagram left to right: Angular SPA, Spring Boot API, MySQL. Emphasize the API is stateless and only the refresh-session store is intentionally stateful. Name the 4+1 views on the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~0:50 · running to ~6:00. || Every request clears seven independent gates in order, none trusting that the earlier ones did their job — that's zero-trust in practice, not a buzzword. End on: every request is audited regardless of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~0:50 · running to ~6:50. || This is THE differentiator — slow down here. Stateless to scale, stateful to revoke. Walk each card briefly; the next two slides go deep on JWT and rotation, so don't over-explain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~0:50 · running to ~7:40. || Both tokens are HMAC-512. Access carries authorities; refresh carries none — so a refresh token can never authenticate an API call. Land the passwordChangedAt point: one password change instantly invalidates every token, on every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~0:50 · running to ~8:30. || Favourite slide — sell it. Family = one device session, rotated on every refresh. A replayed superseded token = theft → revoke the whole family + TOKEN_REUSE_DETECTED. The key design decision is commit-then-throw: never wrap it in a transaction or the throw rolls back the revocation.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~0:35 · running to ~9:05. || Three ways in, one front door: TOTP in-house (RFC 6238) with challenge tokens, SMS via Twilio, and federated via OAuth2 — all converge on our own JWT. This connects to the federation demo (scenario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~0:35 · running to ~9:40. || Permission-string based, not naive roles. Ordering of URL matchers matters. Enforced at URL AND method level; no self-elevation; org admins are scoped to their own organization. (Trim this or slide 14 if short.)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~0:35 · running to ~10:15. || Event-driven audit off the hot path: controllers publish an event, a listener writes the row. The same trail powers the brute-force gate and anti-enumeration. Keep it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~0:30 · running to ~10:45. || A 30-second skim — do NOT read the table row by row. Just say 'current, supported tooling top to bottom' and point at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~0:30 · running to ~11:15. || Name 3–4 engineering wins you're proud of: the single token seam, two persistence strategies, the idempotent schema, single-flight refresh. Then pivot: 'Now let's see it running.'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~0:30 · running to ~11:45. The live-demo block (slides 17–21) is ~4:30 total. || Transition slide: announce the four scenarios and SWITCH TO THE BROWSER now. Have the app already running and logged out. If federation isn't configured, say scenario 4 will be a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~1:30 · running to ~13:15 — LIVE in the app. || Scenario 1, the full auth journey: register a new account (starts disabled) → verification link → log in → authenticator challenge → dashboard. Then open Security Center, show devices, revoke one, one line on reuse detection. This is the must-succeed segment — do not cut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~1:00 · running to ~14:15 — LIVE. || Scenario 2, admin &amp; RBAC: sign in as eve.admin, open the user directory, reassign a user's role, and show the change land in their audit log. Then mention org scoping — an org admin sees only their own organization, and no one can change their own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~0:45 · running to ~15:00 — LIVE. || Scenario 3, the business domain the identity layer protects: create a customer, create an invoice with line items, export to Excel. Trim this first if you're running long — the security scenarios matter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~0:45 · running to ~15:45 — LIVE only if provider credentials are configured. || Scenario 4, federated login: Continue with Google → provider flow → our own JWT; the federated session shows in the device list exactly like an in-house one. If credentials aren't live yet, present this as a short walkthrough/roadmap rather than a live click-through.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~0:40 · running to ~16:25. Back to slides after the demo. || A complete, working system built to the SRS and beyond it. Call out that TOTP MFA and refresh rotation with reuse detection were stretch goals that shipped.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~0:40 · running to ~17:05. || What the build taught us — three lessons: migration-tool drift → idempotent schema; ORM identifier-quoting pitfalls → explicit mappings; and designing reuse detection to commit-then-throw.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~0:40 · running to ~17:45. || Engineering honesty — name what's left out loud: AWS CI/CD, SMS + federation go-live, tests in CI, and hardening (server-side org-scope, rate limiter, env-driven config). Naming gaps reads as maturity and is what makes the project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~0:40 · running to ~18:25. || Restate the narrow, defensible claim: not 'build beats buy', but for the underserved small-scale segment the market prices out, building in-house is defensible — and we showed it can be built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[TIMING] ~0:20 · running to ~18:45 (≈ total). || Close: thank the audience and your advisor, invite questions. Then stop talking and let Q&amp;A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1804988"/>
            <a:ext cx="552450" cy="552450"/>
          </a:xfrm>
          <a:prstGeom prst="roundRect">
            <a:avLst>
              <a:gd name="adj" fmla="val 27586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381000" dist="114300" dir="5400000">
              <a:srgbClr val="6B5BFF">
                <a:alpha val="4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1928813"/>
            <a:ext cx="2667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7350" y="1916621"/>
            <a:ext cx="1596981" cy="36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2250" b="1" spc="-45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952500" y="2928938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PRESENTATION · CPSC 69100 MASTER'S PROJECT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52500" y="3369373"/>
            <a:ext cx="16874490" cy="1504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739"/>
              </a:lnSpc>
              <a:buNone/>
            </a:pPr>
            <a:r>
              <a:rPr lang="en-US" sz="5550" b="1" spc="-1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or Buy? A Hybrid, Zero-Trust CIAM Platform</a:t>
            </a:r>
            <a:endParaRPr lang="en-US" sz="5550" dirty="0"/>
          </a:p>
        </p:txBody>
      </p:sp>
      <p:sp>
        <p:nvSpPr>
          <p:cNvPr id="8" name="Text 5"/>
          <p:cNvSpPr/>
          <p:nvPr/>
        </p:nvSpPr>
        <p:spPr>
          <a:xfrm>
            <a:off x="952500" y="5064061"/>
            <a:ext cx="635667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22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identity &amp; access management on Angular 21 and Spring Boot 4 — secure access, by design.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52500" y="6940486"/>
            <a:ext cx="8763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0" name="Text 7"/>
          <p:cNvSpPr/>
          <p:nvPr/>
        </p:nvSpPr>
        <p:spPr>
          <a:xfrm>
            <a:off x="952500" y="7778686"/>
            <a:ext cx="4132326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2500" y="8037004"/>
            <a:ext cx="4132326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C. Oliver, Jr. · Travis L. Lester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28260" y="7778686"/>
            <a:ext cx="4226414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28260" y="8037004"/>
            <a:ext cx="4226414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Larry Motuzis · Lewis University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389554" y="7778686"/>
            <a:ext cx="62484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89554" y="8037004"/>
            <a:ext cx="62484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2824067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264503"/>
            <a:ext cx="16874490" cy="109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is the new perimeter — and the hardest thing to get right.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638770"/>
            <a:ext cx="257175" cy="3600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4591145"/>
            <a:ext cx="16297961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credentials are among the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and slowest-to-contain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breaches; the average breach now costs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$4.88M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275040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227415"/>
            <a:ext cx="13332514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CIAM is priced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monthly active user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tax on the very growth a startup is chasing.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5911310"/>
            <a:ext cx="257175" cy="3600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5863685"/>
            <a:ext cx="12361668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in-house build adds credential friction and loses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Neither pole is ideal.</a:t>
            </a:r>
            <a:endParaRPr lang="en-US" sz="2175" dirty="0"/>
          </a:p>
        </p:txBody>
      </p:sp>
      <p:sp>
        <p:nvSpPr>
          <p:cNvPr id="15" name="Shape 9"/>
          <p:cNvSpPr/>
          <p:nvPr/>
        </p:nvSpPr>
        <p:spPr>
          <a:xfrm>
            <a:off x="952500" y="6614255"/>
            <a:ext cx="36576" cy="1277207"/>
          </a:xfrm>
          <a:prstGeom prst="rect">
            <a:avLst/>
          </a:prstGeom>
          <a:solidFill>
            <a:srgbClr val="6B5BFF"/>
          </a:solidFill>
          <a:ln/>
        </p:spPr>
      </p:sp>
      <p:sp>
        <p:nvSpPr>
          <p:cNvPr id="16" name="Text 10"/>
          <p:cNvSpPr/>
          <p:nvPr/>
        </p:nvSpPr>
        <p:spPr>
          <a:xfrm>
            <a:off x="1255776" y="6690455"/>
            <a:ext cx="6683057" cy="116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an organization </a:t>
            </a:r>
            <a:pPr algn="l" indent="0" marL="0">
              <a:lnSpc>
                <a:spcPct val="127441"/>
              </a:lnSpc>
              <a:buNone/>
            </a:pPr>
            <a:r>
              <a:rPr lang="en-US" sz="202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pPr algn="l" indent="0" marL="0">
              <a:lnSpc>
                <a:spcPct val="127441"/>
              </a:lnSpc>
              <a:buNone/>
            </a:pPr>
            <a:r>
              <a:rPr lang="en-US" sz="202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</a:t>
            </a:r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identity system? TesseraApp is a working answer: a hybrid that does both.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332416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772853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build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569523"/>
            <a:ext cx="431292" cy="431292"/>
          </a:xfrm>
          <a:prstGeom prst="ellipse">
            <a:avLst/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0496" y="457561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155"/>
              </a:lnSpc>
              <a:buNone/>
            </a:pPr>
            <a:r>
              <a:rPr lang="en-US" sz="15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574292" y="4569523"/>
            <a:ext cx="11724532" cy="46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production-style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core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JWT, refresh-session rotation, MFA, federation.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952500" y="5229415"/>
            <a:ext cx="431292" cy="431292"/>
          </a:xfrm>
          <a:prstGeom prst="ellipse">
            <a:avLst/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0496" y="523551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155"/>
              </a:lnSpc>
              <a:buNone/>
            </a:pPr>
            <a:r>
              <a:rPr lang="en-US" sz="15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574292" y="5229415"/>
            <a:ext cx="8667197" cy="46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Permission-based role access control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organization scoping.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952500" y="5889307"/>
            <a:ext cx="431292" cy="431292"/>
          </a:xfrm>
          <a:prstGeom prst="ellipse">
            <a:avLst/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0496" y="58954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155"/>
              </a:lnSpc>
              <a:buNone/>
            </a:pPr>
            <a:r>
              <a:rPr lang="en-US" sz="15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574292" y="5889307"/>
            <a:ext cx="9148220" cy="46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console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self-service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experience.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952500" y="6549199"/>
            <a:ext cx="431292" cy="431292"/>
          </a:xfrm>
          <a:prstGeom prst="ellipse">
            <a:avLst/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0496" y="655529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155"/>
              </a:lnSpc>
              <a:buNone/>
            </a:pPr>
            <a:r>
              <a:rPr lang="en-US" sz="15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574292" y="6549199"/>
            <a:ext cx="8139236" cy="46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domain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customers &amp; invoices — to secure.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952500" y="7209091"/>
            <a:ext cx="431292" cy="431292"/>
          </a:xfrm>
          <a:prstGeom prst="ellipse">
            <a:avLst/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0496" y="721518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155"/>
              </a:lnSpc>
              <a:buNone/>
            </a:pPr>
            <a:r>
              <a:rPr lang="en-US" sz="15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75" dirty="0"/>
          </a:p>
        </p:txBody>
      </p:sp>
      <p:sp>
        <p:nvSpPr>
          <p:cNvPr id="23" name="Text 20"/>
          <p:cNvSpPr/>
          <p:nvPr/>
        </p:nvSpPr>
        <p:spPr>
          <a:xfrm>
            <a:off x="1574292" y="7209091"/>
            <a:ext cx="6006541" cy="46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every security-relevant action.</a:t>
            </a:r>
            <a:endParaRPr lang="en-US" sz="21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660838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· THE BUILD-VS-BUY SPECTRUM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101274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TesseraApp sits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974145"/>
            <a:ext cx="3723418" cy="1008126"/>
          </a:xfrm>
          <a:prstGeom prst="roundRect">
            <a:avLst>
              <a:gd name="adj" fmla="val 15117"/>
            </a:avLst>
          </a:prstGeom>
          <a:solidFill>
            <a:srgbClr val="141925">
              <a:alpha val="70000"/>
            </a:srgbClr>
          </a:solidFill>
          <a:ln w="12192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4242" y="5214938"/>
            <a:ext cx="3607927" cy="306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SaaS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174242" y="5540311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Okta · Auth0 — per-MAU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9268" y="4974145"/>
            <a:ext cx="305943" cy="104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172360" y="4974145"/>
            <a:ext cx="3723418" cy="1008126"/>
          </a:xfrm>
          <a:prstGeom prst="roundRect">
            <a:avLst>
              <a:gd name="adj" fmla="val 15117"/>
            </a:avLst>
          </a:prstGeom>
          <a:solidFill>
            <a:srgbClr val="141925">
              <a:alpha val="70000"/>
            </a:srgbClr>
          </a:solidFill>
          <a:ln w="12192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103" y="5214938"/>
            <a:ext cx="3607927" cy="306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/ Enterprise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394103" y="5540311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 · Cognito · Ping · IBM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29129" y="4974145"/>
            <a:ext cx="305943" cy="104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392221" y="4974145"/>
            <a:ext cx="3723418" cy="1008126"/>
          </a:xfrm>
          <a:prstGeom prst="roundRect">
            <a:avLst>
              <a:gd name="adj" fmla="val 15117"/>
            </a:avLst>
          </a:prstGeom>
          <a:solidFill>
            <a:srgbClr val="141925">
              <a:alpha val="70000"/>
            </a:srgbClr>
          </a:solidFill>
          <a:ln w="12192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13963" y="5214938"/>
            <a:ext cx="3607927" cy="306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9613963" y="5540311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Keycloak — self-hosted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248989" y="4974145"/>
            <a:ext cx="305943" cy="104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3612082" y="4974145"/>
            <a:ext cx="3723418" cy="1008126"/>
          </a:xfrm>
          <a:prstGeom prst="roundRect">
            <a:avLst>
              <a:gd name="adj" fmla="val 15117"/>
            </a:avLst>
          </a:prstGeom>
          <a:solidFill>
            <a:srgbClr val="6B5BFF">
              <a:alpha val="12000"/>
            </a:srgbClr>
          </a:solidFill>
          <a:ln w="12192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833824" y="5214938"/>
            <a:ext cx="3607927" cy="306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3833824" y="5540311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TesseraApp — hybrid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315646"/>
            <a:ext cx="257175" cy="36004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00175" y="6268021"/>
            <a:ext cx="11237527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 proves a real market for </a:t>
            </a:r>
            <a:pPr algn="l" indent="0" marL="0">
              <a:lnSpc>
                <a:spcPct val="121011"/>
              </a:lnSpc>
              <a:buNone/>
            </a:pPr>
            <a:r>
              <a:rPr lang="en-US" sz="19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CIAM </a:t>
            </a:r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control and data ownership, no per-MAU bill.</a:t>
            </a:r>
            <a:endParaRPr lang="en-US" sz="1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951916"/>
            <a:ext cx="257175" cy="36004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00175" y="6904291"/>
            <a:ext cx="13801174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sovereign, predictable, production-grade identity </a:t>
            </a:r>
            <a:pPr algn="l" indent="0" marL="0">
              <a:lnSpc>
                <a:spcPct val="121011"/>
              </a:lnSpc>
              <a:buNone/>
            </a:pPr>
            <a:r>
              <a:rPr lang="en-US" sz="19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small scale </a:t>
            </a:r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schools, startups, small business, non-profits.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4027741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468177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CIAM, and why hybrid tokens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312473"/>
            <a:ext cx="257175" cy="3600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5264848"/>
            <a:ext cx="9992811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CIAM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traditional IAM: external, self-registering users at internet scale.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948743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901118"/>
            <a:ext cx="13133441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Zero-trust: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trust, always verify — every request re-validated, access revocable mid-session.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585013"/>
            <a:ext cx="257175" cy="3600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6537388"/>
            <a:ext cx="15550182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but can't revoke;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sessions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but don't scale — TesseraApp uses a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both.</a:t>
            </a:r>
            <a:endParaRPr lang="en-US" sz="21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557206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· SRS HIGHLIGHTS (IEEE 830)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997642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in one glance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794313"/>
            <a:ext cx="8096250" cy="1215390"/>
          </a:xfrm>
          <a:prstGeom prst="roundRect">
            <a:avLst>
              <a:gd name="adj" fmla="val 14107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96" y="5067109"/>
            <a:ext cx="247650" cy="2865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5346" y="5067109"/>
            <a:ext cx="874395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263396" y="5439346"/>
            <a:ext cx="8221903" cy="33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Registration, email verification, login, logout, password reset.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239250" y="4794313"/>
            <a:ext cx="8096250" cy="1215390"/>
          </a:xfrm>
          <a:prstGeom prst="roundRect">
            <a:avLst>
              <a:gd name="adj" fmla="val 14107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146" y="5067109"/>
            <a:ext cx="247650" cy="2865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12096" y="5067109"/>
            <a:ext cx="1397317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&amp; SSO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9550146" y="5439346"/>
            <a:ext cx="8221903" cy="33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Authenticator app (TOTP) + SMS; federated login via OAuth2 / OIDC.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952500" y="6200204"/>
            <a:ext cx="8096250" cy="1215390"/>
          </a:xfrm>
          <a:prstGeom prst="roundRect">
            <a:avLst>
              <a:gd name="adj" fmla="val 14107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396" y="6472999"/>
            <a:ext cx="247650" cy="2865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25346" y="6472999"/>
            <a:ext cx="764191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263396" y="6845236"/>
            <a:ext cx="8221903" cy="33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Seven-role permission control; organization-scoped administration.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9239250" y="6200204"/>
            <a:ext cx="8096250" cy="1215390"/>
          </a:xfrm>
          <a:prstGeom prst="roundRect">
            <a:avLst>
              <a:gd name="adj" fmla="val 14107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146" y="6472999"/>
            <a:ext cx="247650" cy="2865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12096" y="6472999"/>
            <a:ext cx="1906809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sessions</a:t>
            </a:r>
            <a:endParaRPr lang="en-US" sz="1950" dirty="0"/>
          </a:p>
        </p:txBody>
      </p:sp>
      <p:sp>
        <p:nvSpPr>
          <p:cNvPr id="24" name="Text 17"/>
          <p:cNvSpPr/>
          <p:nvPr/>
        </p:nvSpPr>
        <p:spPr>
          <a:xfrm>
            <a:off x="9550146" y="6845236"/>
            <a:ext cx="8221903" cy="33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logging; per-device session management.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708082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· THREE TIERS, ONE CONTRACT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148518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layered, stateless system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5021389"/>
            <a:ext cx="5129975" cy="1008126"/>
          </a:xfrm>
          <a:prstGeom prst="roundRect">
            <a:avLst>
              <a:gd name="adj" fmla="val 15117"/>
            </a:avLst>
          </a:prstGeom>
          <a:solidFill>
            <a:srgbClr val="141925">
              <a:alpha val="70000"/>
            </a:srgbClr>
          </a:solidFill>
          <a:ln w="12192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42" y="5262181"/>
            <a:ext cx="238125" cy="2621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5326" y="5262181"/>
            <a:ext cx="1752981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 SPA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1174242" y="5587555"/>
            <a:ext cx="5155139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:4200 dev · JWT access + refresh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15824" y="5021389"/>
            <a:ext cx="305943" cy="104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6578918" y="5021389"/>
            <a:ext cx="5130069" cy="1008126"/>
          </a:xfrm>
          <a:prstGeom prst="roundRect">
            <a:avLst>
              <a:gd name="adj" fmla="val 15117"/>
            </a:avLst>
          </a:prstGeom>
          <a:solidFill>
            <a:srgbClr val="6B5BFF">
              <a:alpha val="12000"/>
            </a:srgbClr>
          </a:solidFill>
          <a:ln w="12192">
            <a:solidFill>
              <a:srgbClr val="6B5BFF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659" y="5262181"/>
            <a:ext cx="238125" cy="2621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04888" y="5262181"/>
            <a:ext cx="1955959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4 API</a:t>
            </a:r>
            <a:endParaRPr lang="en-US" sz="1875" dirty="0"/>
          </a:p>
        </p:txBody>
      </p:sp>
      <p:sp>
        <p:nvSpPr>
          <p:cNvPr id="17" name="Text 12"/>
          <p:cNvSpPr/>
          <p:nvPr/>
        </p:nvSpPr>
        <p:spPr>
          <a:xfrm>
            <a:off x="6800659" y="5587555"/>
            <a:ext cx="5155244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 · Security 7 · JWT filter + RBAC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842336" y="5021389"/>
            <a:ext cx="305943" cy="104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12205429" y="5021389"/>
            <a:ext cx="5130069" cy="1008126"/>
          </a:xfrm>
          <a:prstGeom prst="roundRect">
            <a:avLst>
              <a:gd name="adj" fmla="val 15117"/>
            </a:avLst>
          </a:prstGeom>
          <a:solidFill>
            <a:srgbClr val="141925">
              <a:alpha val="70000"/>
            </a:srgbClr>
          </a:solidFill>
          <a:ln w="12192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7172" y="5262181"/>
            <a:ext cx="238125" cy="2621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731401" y="5262181"/>
            <a:ext cx="1059941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875" dirty="0"/>
          </a:p>
        </p:txBody>
      </p:sp>
      <p:sp>
        <p:nvSpPr>
          <p:cNvPr id="22" name="Text 16"/>
          <p:cNvSpPr/>
          <p:nvPr/>
        </p:nvSpPr>
        <p:spPr>
          <a:xfrm>
            <a:off x="12427172" y="5587555"/>
            <a:ext cx="5155244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db2 · JdbcTemplate + JPA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52500" y="6353365"/>
            <a:ext cx="1802130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through four architectural views plus scenarios: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952500" y="6836473"/>
            <a:ext cx="1094137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139571" y="6937819"/>
            <a:ext cx="796195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2170462" y="6836473"/>
            <a:ext cx="1094137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357533" y="6937819"/>
            <a:ext cx="796195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3388423" y="6836473"/>
            <a:ext cx="1505521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575494" y="6937819"/>
            <a:ext cx="1207579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5017770" y="6836473"/>
            <a:ext cx="1197007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204841" y="6937819"/>
            <a:ext cx="899065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6338601" y="6836473"/>
            <a:ext cx="1505521" cy="428244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609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25672" y="6937819"/>
            <a:ext cx="1207579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Scenarios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679507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ANATOMY OF A REQUEST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119943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gates, every request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916614"/>
            <a:ext cx="2739771" cy="428244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609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9571" y="5017960"/>
            <a:ext cx="2447822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Network edge / CORS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4671" y="4916614"/>
            <a:ext cx="2019776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31742" y="5017960"/>
            <a:ext cx="1721834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JWT validity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16847" y="4916614"/>
            <a:ext cx="2431256" cy="428244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609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03918" y="5017960"/>
            <a:ext cx="2133314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Brute-force gate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600504" y="4916614"/>
            <a:ext cx="2225516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87575" y="5017960"/>
            <a:ext cx="1927574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Authentication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0978419" y="4916614"/>
            <a:ext cx="2122646" cy="428244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609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65490" y="5017960"/>
            <a:ext cx="1824704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URL authority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3253465" y="4916614"/>
            <a:ext cx="2842641" cy="428244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609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440536" y="5017960"/>
            <a:ext cx="2553778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Method @PreAuthorize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52500" y="5497259"/>
            <a:ext cx="1711261" cy="428244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609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9571" y="5598605"/>
            <a:ext cx="1413319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Org scope</a:t>
            </a:r>
            <a:endParaRPr lang="en-US" sz="13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296977"/>
            <a:ext cx="257175" cy="36004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00175" y="6249352"/>
            <a:ext cx="8426061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gate can reject outright; none trusts that the earlier ones did their job.</a:t>
            </a:r>
            <a:endParaRPr lang="en-US" sz="19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933247"/>
            <a:ext cx="257175" cy="36004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00175" y="6885622"/>
            <a:ext cx="7691530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is </a:t>
            </a:r>
            <a:pPr algn="l" indent="0" marL="0">
              <a:lnSpc>
                <a:spcPct val="121011"/>
              </a:lnSpc>
              <a:buNone/>
            </a:pPr>
            <a:r>
              <a:rPr lang="en-US" sz="19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regardless of outcome </a:t>
            </a:r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success or failure.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250501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MODEL · THE DIFFERENTIATOR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690937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to scale, stateful to revoke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487608"/>
            <a:ext cx="5334000" cy="1525143"/>
          </a:xfrm>
          <a:prstGeom prst="roundRect">
            <a:avLst>
              <a:gd name="adj" fmla="val 1124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96" y="4760404"/>
            <a:ext cx="247650" cy="2865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5346" y="4760404"/>
            <a:ext cx="1672685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263396" y="5132641"/>
            <a:ext cx="4853574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Stateless, 30-min, HMAC-512, verified by signature — no DB hit per request.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6477000" y="4487608"/>
            <a:ext cx="5334000" cy="1525143"/>
          </a:xfrm>
          <a:prstGeom prst="roundRect">
            <a:avLst>
              <a:gd name="adj" fmla="val 1124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896" y="4760404"/>
            <a:ext cx="247650" cy="2865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49846" y="4760404"/>
            <a:ext cx="1975485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sessions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787896" y="5132641"/>
            <a:ext cx="4853574" cy="645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sliding, server-tracked, </a:t>
            </a:r>
            <a:pPr algn="l" indent="0" marL="0">
              <a:lnSpc>
                <a:spcPct val="12516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rotated on every use </a:t>
            </a:r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12001500" y="4487608"/>
            <a:ext cx="5334000" cy="1525143"/>
          </a:xfrm>
          <a:prstGeom prst="roundRect">
            <a:avLst>
              <a:gd name="adj" fmla="val 1124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2396" y="4760404"/>
            <a:ext cx="247650" cy="2865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74346" y="4760404"/>
            <a:ext cx="1865851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detection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2312396" y="5132641"/>
            <a:ext cx="5183429" cy="341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Replaying an old token </a:t>
            </a:r>
            <a:pPr algn="l" indent="0" marL="0">
              <a:lnSpc>
                <a:spcPct val="12516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revokes the whole family</a:t>
            </a:r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952500" y="6203252"/>
            <a:ext cx="5334000" cy="1519047"/>
          </a:xfrm>
          <a:prstGeom prst="roundRect">
            <a:avLst>
              <a:gd name="adj" fmla="val 11287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396" y="6476047"/>
            <a:ext cx="247650" cy="2865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25346" y="6476047"/>
            <a:ext cx="585311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1950" dirty="0"/>
          </a:p>
        </p:txBody>
      </p:sp>
      <p:sp>
        <p:nvSpPr>
          <p:cNvPr id="24" name="Text 17"/>
          <p:cNvSpPr/>
          <p:nvPr/>
        </p:nvSpPr>
        <p:spPr>
          <a:xfrm>
            <a:off x="1263396" y="6848284"/>
            <a:ext cx="4853574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Challenge-bound TOTP + SMS; single-use recovery codes.</a:t>
            </a:r>
            <a:endParaRPr lang="en-US" sz="1650" dirty="0"/>
          </a:p>
        </p:txBody>
      </p:sp>
      <p:sp>
        <p:nvSpPr>
          <p:cNvPr id="25" name="Shape 18"/>
          <p:cNvSpPr/>
          <p:nvPr/>
        </p:nvSpPr>
        <p:spPr>
          <a:xfrm>
            <a:off x="6477000" y="6203252"/>
            <a:ext cx="5334000" cy="1519047"/>
          </a:xfrm>
          <a:prstGeom prst="roundRect">
            <a:avLst>
              <a:gd name="adj" fmla="val 11287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896" y="6476047"/>
            <a:ext cx="247650" cy="2865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49846" y="6476047"/>
            <a:ext cx="764191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950" dirty="0"/>
          </a:p>
        </p:txBody>
      </p:sp>
      <p:sp>
        <p:nvSpPr>
          <p:cNvPr id="28" name="Text 20"/>
          <p:cNvSpPr/>
          <p:nvPr/>
        </p:nvSpPr>
        <p:spPr>
          <a:xfrm>
            <a:off x="6787896" y="6848284"/>
            <a:ext cx="4853574" cy="639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strings enforced at </a:t>
            </a:r>
            <a:pPr algn="l" indent="0" marL="0">
              <a:lnSpc>
                <a:spcPct val="12516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and method </a:t>
            </a:r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level.</a:t>
            </a:r>
            <a:endParaRPr lang="en-US" sz="1650" dirty="0"/>
          </a:p>
        </p:txBody>
      </p:sp>
      <p:sp>
        <p:nvSpPr>
          <p:cNvPr id="29" name="Shape 21"/>
          <p:cNvSpPr/>
          <p:nvPr/>
        </p:nvSpPr>
        <p:spPr>
          <a:xfrm>
            <a:off x="12001500" y="6203252"/>
            <a:ext cx="5334000" cy="1519047"/>
          </a:xfrm>
          <a:prstGeom prst="roundRect">
            <a:avLst>
              <a:gd name="adj" fmla="val 11287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2396" y="6476047"/>
            <a:ext cx="247650" cy="2865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674346" y="6476047"/>
            <a:ext cx="640652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950" dirty="0"/>
          </a:p>
        </p:txBody>
      </p:sp>
      <p:sp>
        <p:nvSpPr>
          <p:cNvPr id="32" name="Text 23"/>
          <p:cNvSpPr/>
          <p:nvPr/>
        </p:nvSpPr>
        <p:spPr>
          <a:xfrm>
            <a:off x="12312396" y="6848284"/>
            <a:ext cx="5183429" cy="33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security event written to an immutable trail.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844862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· MINT, VERIFY, TRUST NOTHING TWICE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285297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token types, one filter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129593"/>
            <a:ext cx="257175" cy="3600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5081968"/>
            <a:ext cx="12299642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(30 min):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embeds the user's authorities — authorization needs no database lookup.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765863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718238"/>
            <a:ext cx="12898850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(5 days):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carries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authorities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it can never be used as an access token.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402134"/>
            <a:ext cx="257175" cy="7258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6354509"/>
            <a:ext cx="1641338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CustomAuthFilter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signature, expiry, and that issued-at &gt;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passwordChangedAt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password change instantly invalidates every token, every device.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096958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TOKENS · ROTATE, DETECT, REVOKE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537395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 I'm most proud of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410265"/>
            <a:ext cx="3723418" cy="1056894"/>
          </a:xfrm>
          <a:prstGeom prst="roundRect">
            <a:avLst>
              <a:gd name="adj" fmla="val 14420"/>
            </a:avLst>
          </a:prstGeom>
          <a:solidFill>
            <a:srgbClr val="141925">
              <a:alpha val="70000"/>
            </a:srgbClr>
          </a:solidFill>
          <a:ln w="12192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4242" y="4675441"/>
            <a:ext cx="3607927" cy="306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174242" y="5000815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 family, jti₁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9268" y="4410265"/>
            <a:ext cx="305943" cy="1094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172360" y="4410265"/>
            <a:ext cx="3723418" cy="1056894"/>
          </a:xfrm>
          <a:prstGeom prst="roundRect">
            <a:avLst>
              <a:gd name="adj" fmla="val 14420"/>
            </a:avLst>
          </a:prstGeom>
          <a:solidFill>
            <a:srgbClr val="6B5BFF">
              <a:alpha val="12000"/>
            </a:srgbClr>
          </a:solidFill>
          <a:ln w="12192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103" y="4675441"/>
            <a:ext cx="3607927" cy="306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394103" y="5000815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supersede old, insert jti₂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29129" y="4410265"/>
            <a:ext cx="305943" cy="1094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392221" y="4410265"/>
            <a:ext cx="3723418" cy="1056894"/>
          </a:xfrm>
          <a:prstGeom prst="roundRect">
            <a:avLst>
              <a:gd name="adj" fmla="val 14420"/>
            </a:avLst>
          </a:prstGeom>
          <a:solidFill>
            <a:srgbClr val="141925">
              <a:alpha val="70000"/>
            </a:srgbClr>
          </a:solidFill>
          <a:ln w="12192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13963" y="4651057"/>
            <a:ext cx="3607927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jti₁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9613963" y="5025200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superseded row returns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248989" y="4410265"/>
            <a:ext cx="305943" cy="1094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3612082" y="4410265"/>
            <a:ext cx="3723418" cy="1056894"/>
          </a:xfrm>
          <a:prstGeom prst="roundRect">
            <a:avLst>
              <a:gd name="adj" fmla="val 14420"/>
            </a:avLst>
          </a:prstGeom>
          <a:solidFill>
            <a:srgbClr val="FB7185">
              <a:alpha val="10000"/>
            </a:srgbClr>
          </a:solidFill>
          <a:ln w="12192">
            <a:solidFill>
              <a:srgbClr val="FB7185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833824" y="4675441"/>
            <a:ext cx="3607927" cy="306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revoked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3833824" y="5000815"/>
            <a:ext cx="3607927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TOKEN_REUSE_DETECTED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52500" y="5962459"/>
            <a:ext cx="36576" cy="1656207"/>
          </a:xfrm>
          <a:prstGeom prst="rect">
            <a:avLst/>
          </a:prstGeom>
          <a:solidFill>
            <a:srgbClr val="6B5BFF"/>
          </a:solidFill>
          <a:ln/>
        </p:spPr>
      </p:sp>
      <p:sp>
        <p:nvSpPr>
          <p:cNvPr id="25" name="Text 22"/>
          <p:cNvSpPr/>
          <p:nvPr/>
        </p:nvSpPr>
        <p:spPr>
          <a:xfrm>
            <a:off x="1255776" y="6038659"/>
            <a:ext cx="6683057" cy="154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is deliberately </a:t>
            </a:r>
            <a:pPr algn="l" indent="0" marL="0">
              <a:lnSpc>
                <a:spcPct val="127441"/>
              </a:lnSpc>
              <a:buNone/>
            </a:pPr>
            <a:r>
              <a:rPr lang="en-US" sz="202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transactional </a:t>
            </a:r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family revocation must </a:t>
            </a:r>
            <a:pPr algn="l" indent="0" marL="0">
              <a:lnSpc>
                <a:spcPct val="127441"/>
              </a:lnSpc>
              <a:buNone/>
            </a:pPr>
            <a:r>
              <a:rPr lang="en-US" sz="202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commit, then throw </a:t>
            </a:r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inside a transaction the throw would roll back the revocation, un-punishing the replay it just caught.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220307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 · TWO WAYS IN, ONE FRONT DOOR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660743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path mints the same JWT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457414"/>
            <a:ext cx="5334000" cy="1512951"/>
          </a:xfrm>
          <a:prstGeom prst="roundRect">
            <a:avLst>
              <a:gd name="adj" fmla="val 1133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96" y="4730210"/>
            <a:ext cx="247650" cy="2865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5346" y="4730210"/>
            <a:ext cx="732092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263396" y="5102447"/>
            <a:ext cx="4853574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6238, in-house; ZXing only rasterizes the QR. Challenge-bound; recovery codes.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6477000" y="4457414"/>
            <a:ext cx="5334000" cy="1512951"/>
          </a:xfrm>
          <a:prstGeom prst="roundRect">
            <a:avLst>
              <a:gd name="adj" fmla="val 1133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896" y="4730210"/>
            <a:ext cx="247650" cy="2865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49846" y="4730210"/>
            <a:ext cx="612839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787896" y="5102447"/>
            <a:ext cx="4853574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one-time code; TOTP takes precedence when both are enabled.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12001500" y="4457414"/>
            <a:ext cx="5334000" cy="1512951"/>
          </a:xfrm>
          <a:prstGeom prst="roundRect">
            <a:avLst>
              <a:gd name="adj" fmla="val 1133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2396" y="4730210"/>
            <a:ext cx="247650" cy="2865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74346" y="4730210"/>
            <a:ext cx="1205008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2312396" y="5102447"/>
            <a:ext cx="4853574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GitHub / Microsoft via OAuth2 code flow; find-or-create, then our JWT.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952500" y="6218015"/>
            <a:ext cx="36576" cy="1277207"/>
          </a:xfrm>
          <a:prstGeom prst="rect">
            <a:avLst/>
          </a:prstGeom>
          <a:solidFill>
            <a:srgbClr val="6B5BFF"/>
          </a:solidFill>
          <a:ln/>
        </p:spPr>
      </p:sp>
      <p:sp>
        <p:nvSpPr>
          <p:cNvPr id="22" name="Text 16"/>
          <p:cNvSpPr/>
          <p:nvPr/>
        </p:nvSpPr>
        <p:spPr>
          <a:xfrm>
            <a:off x="1255776" y="6294215"/>
            <a:ext cx="6683057" cy="116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Password, TOTP, or a federated provider — all converge on </a:t>
            </a:r>
            <a:pPr algn="l" indent="0" marL="0">
              <a:lnSpc>
                <a:spcPct val="127441"/>
              </a:lnSpc>
              <a:buNone/>
            </a:pPr>
            <a:r>
              <a:rPr lang="en-US" sz="202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token-issuance seam </a:t>
            </a:r>
            <a:pPr algn="l" indent="0" marL="0">
              <a:lnSpc>
                <a:spcPct val="127441"/>
              </a:lnSpc>
              <a:buNone/>
            </a:pPr>
            <a:r>
              <a:rPr lang="en-US" sz="202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RBAC, MFA policy, and audit apply identically.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658933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· PERMISSION STRINGS, NOT ROLES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099370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roles, fine-grained permissions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943665"/>
            <a:ext cx="257175" cy="7258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4896040"/>
            <a:ext cx="1641338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role per user, carrying a comma-separated permission string like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READ:USER, UPDATE:CUSTOMER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split into Spring authorities and embedded in the token.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945695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898070"/>
            <a:ext cx="12445279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URL and method level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so the two layers can never drift.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581965"/>
            <a:ext cx="257175" cy="7319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6534340"/>
            <a:ext cx="16413385" cy="817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can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elevate their own role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reassignment is admin-only and audited. Org admins are scoped to their own organization.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4027741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· WITHOUT CLUTTERING THE REQUEST PATH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468177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written down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312473"/>
            <a:ext cx="257175" cy="3600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5264848"/>
            <a:ext cx="15793992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publish a Spring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event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 separate listener writes the row — logging never sits on the hot path.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948743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901118"/>
            <a:ext cx="10980420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trail powers a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brute-force gate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failures / 15 min → generic rejection).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585013"/>
            <a:ext cx="257175" cy="3600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6537388"/>
            <a:ext cx="13826214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Anti-enumeration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login, registration, and reset — the API never reveals whether an email exists.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215068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655504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current, supported tools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5102923"/>
            <a:ext cx="21145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09650" y="4623625"/>
            <a:ext cx="2076450" cy="345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067050" y="5102923"/>
            <a:ext cx="14268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124200" y="4623625"/>
            <a:ext cx="14582204" cy="345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21, Bootstrap 5, RxJS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952500" y="5762816"/>
            <a:ext cx="21145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09650" y="5280470"/>
            <a:ext cx="2076450" cy="34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067050" y="5762816"/>
            <a:ext cx="14268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124200" y="5280470"/>
            <a:ext cx="14582204" cy="34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4, Java 21, Spring Security 7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952500" y="6422707"/>
            <a:ext cx="21145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09650" y="5940361"/>
            <a:ext cx="2076450" cy="34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067050" y="6422707"/>
            <a:ext cx="14268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124200" y="5940361"/>
            <a:ext cx="14582204" cy="34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— JdbcTemplate (identity) + JPA (business)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952500" y="7082600"/>
            <a:ext cx="21145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09650" y="6600254"/>
            <a:ext cx="2076450" cy="34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067050" y="7082600"/>
            <a:ext cx="14268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124200" y="6600254"/>
            <a:ext cx="14582204" cy="34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(HMAC-512), OAuth2 client, ZXing (TOTP QR), Twilio (SMS)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1009650" y="7260145"/>
            <a:ext cx="2076450" cy="36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124200" y="7260145"/>
            <a:ext cx="14582204" cy="36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(multi-stage), OWASP Dependency-Check, CI/CD → AWS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709606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HIGHLIGHTS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150042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decisions that paid off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994338"/>
            <a:ext cx="257175" cy="3600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4946713"/>
            <a:ext cx="11871322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token-issuance seam (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SessionService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→ every login is a revocable session.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630609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582984"/>
            <a:ext cx="14307759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persistence strategies by trust boundary: hand-written SQL for identity, JPA for the business domain.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266879"/>
            <a:ext cx="257175" cy="3600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6219254"/>
            <a:ext cx="10493950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schema.sql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converges every environment to the same schema.</a:t>
            </a:r>
            <a:endParaRPr lang="en-US" sz="217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6903148"/>
            <a:ext cx="257175" cy="3600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00175" y="6855523"/>
            <a:ext cx="9630289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interceptor with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single-flight token refresh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refresh storms.</a:t>
            </a:r>
            <a:endParaRPr lang="en-US" sz="21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4217860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DEMONSTRATION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658296"/>
            <a:ext cx="18021300" cy="649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82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working.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952500" y="5631752"/>
            <a:ext cx="3948208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9571" y="5733098"/>
            <a:ext cx="3692512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Register → verify → login → 2FA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53108" y="5631752"/>
            <a:ext cx="2019776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40179" y="5733098"/>
            <a:ext cx="1721834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Admin &amp; RBAC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5284" y="5631752"/>
            <a:ext cx="2842641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12355" y="5733098"/>
            <a:ext cx="2553778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Customers &amp; invoices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220325" y="5631752"/>
            <a:ext cx="2328386" cy="428244"/>
          </a:xfrm>
          <a:prstGeom prst="roundRect">
            <a:avLst>
              <a:gd name="adj" fmla="val 50000"/>
            </a:avLst>
          </a:prstGeom>
          <a:solidFill>
            <a:srgbClr val="6B5BFF">
              <a:alpha val="14000"/>
            </a:srgbClr>
          </a:solidFill>
          <a:ln w="6096">
            <a:solidFill>
              <a:srgbClr val="6B5B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07396" y="5733098"/>
            <a:ext cx="2030444" cy="26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Federated login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52500" y="6326695"/>
            <a:ext cx="3621786" cy="428244"/>
          </a:xfrm>
          <a:prstGeom prst="roundRect">
            <a:avLst>
              <a:gd name="adj" fmla="val 50000"/>
            </a:avLst>
          </a:prstGeom>
          <a:solidFill>
            <a:srgbClr val="34D399">
              <a:alpha val="10000"/>
            </a:srgbClr>
          </a:solidFill>
          <a:ln w="6096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8621" y="6488430"/>
            <a:ext cx="104775" cy="10477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1368171" y="6428041"/>
            <a:ext cx="3089993" cy="26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TO THE RUNNING APP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1485900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· SCENARIO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1926336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authentication journey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412551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996" y="4532947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new account → account created disabled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952500" y="4942904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0996" y="5063300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the emailed link → account activated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952500" y="5473255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0996" y="5593651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in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authenticator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dashboard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952500" y="6003607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0996" y="6124003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Center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enroll authenticator, save recovery codes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952500" y="6533959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0996" y="6654355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active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revoke a session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952500" y="7254811"/>
            <a:ext cx="1701832" cy="428244"/>
          </a:xfrm>
          <a:prstGeom prst="roundRect">
            <a:avLst>
              <a:gd name="adj" fmla="val 50000"/>
            </a:avLst>
          </a:prstGeom>
          <a:solidFill>
            <a:srgbClr val="34D399">
              <a:alpha val="10000"/>
            </a:srgbClr>
          </a:solidFill>
          <a:ln w="6096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58621" y="7416546"/>
            <a:ext cx="104775" cy="10477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1368171" y="7356157"/>
            <a:ext cx="1156240" cy="26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752552" y="3608451"/>
            <a:ext cx="7582852" cy="4878610"/>
          </a:xfrm>
          <a:prstGeom prst="roundRect">
            <a:avLst>
              <a:gd name="adj" fmla="val 3124"/>
            </a:avLst>
          </a:prstGeom>
          <a:solidFill>
            <a:srgbClr val="0F131C"/>
          </a:solidFill>
          <a:ln w="6096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5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758649" y="3614547"/>
            <a:ext cx="7570661" cy="398526"/>
          </a:xfrm>
          <a:prstGeom prst="rect">
            <a:avLst/>
          </a:prstGeom>
          <a:solidFill>
            <a:srgbClr val="0F131C"/>
          </a:solidFill>
          <a:ln/>
        </p:spPr>
      </p:sp>
      <p:sp>
        <p:nvSpPr>
          <p:cNvPr id="24" name="Shape 21"/>
          <p:cNvSpPr/>
          <p:nvPr/>
        </p:nvSpPr>
        <p:spPr>
          <a:xfrm>
            <a:off x="9758649" y="4006977"/>
            <a:ext cx="757066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911049" y="3758374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6" name="Shape 23"/>
          <p:cNvSpPr/>
          <p:nvPr/>
        </p:nvSpPr>
        <p:spPr>
          <a:xfrm>
            <a:off x="10082499" y="3758374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7" name="Shape 24"/>
          <p:cNvSpPr/>
          <p:nvPr/>
        </p:nvSpPr>
        <p:spPr>
          <a:xfrm>
            <a:off x="10253949" y="3758374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8" name="Text 25"/>
          <p:cNvSpPr/>
          <p:nvPr/>
        </p:nvSpPr>
        <p:spPr>
          <a:xfrm>
            <a:off x="10520649" y="3719322"/>
            <a:ext cx="179112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tesseraapp · /login</a:t>
            </a:r>
            <a:endParaRPr lang="en-US" sz="1125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49" y="4013073"/>
            <a:ext cx="7570661" cy="44678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1485900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· SCENARIO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1926336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&amp; role-based access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412551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996" y="4532947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in as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eve.admin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(ROLE_ADMIN)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952500" y="4942904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0996" y="5063300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directory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open a user detail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952500" y="5473255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0996" y="5593651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Reassign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their role → change appears in their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log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952500" y="6003607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0996" y="6124003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the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× permissions matrix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952500" y="6533959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0996" y="6654355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 scoping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an org admin sees only their organization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952500" y="7254811"/>
            <a:ext cx="1701832" cy="428244"/>
          </a:xfrm>
          <a:prstGeom prst="roundRect">
            <a:avLst>
              <a:gd name="adj" fmla="val 50000"/>
            </a:avLst>
          </a:prstGeom>
          <a:solidFill>
            <a:srgbClr val="34D399">
              <a:alpha val="10000"/>
            </a:srgbClr>
          </a:solidFill>
          <a:ln w="6096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58621" y="7416546"/>
            <a:ext cx="104775" cy="10477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1368171" y="7356157"/>
            <a:ext cx="1156240" cy="26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752552" y="3645694"/>
            <a:ext cx="7582852" cy="4804124"/>
          </a:xfrm>
          <a:prstGeom prst="roundRect">
            <a:avLst>
              <a:gd name="adj" fmla="val 3172"/>
            </a:avLst>
          </a:prstGeom>
          <a:solidFill>
            <a:srgbClr val="0F131C"/>
          </a:solidFill>
          <a:ln w="6096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5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758649" y="3651790"/>
            <a:ext cx="7570661" cy="398526"/>
          </a:xfrm>
          <a:prstGeom prst="rect">
            <a:avLst/>
          </a:prstGeom>
          <a:solidFill>
            <a:srgbClr val="0F131C"/>
          </a:solidFill>
          <a:ln/>
        </p:spPr>
      </p:sp>
      <p:sp>
        <p:nvSpPr>
          <p:cNvPr id="24" name="Shape 21"/>
          <p:cNvSpPr/>
          <p:nvPr/>
        </p:nvSpPr>
        <p:spPr>
          <a:xfrm>
            <a:off x="9758649" y="4044220"/>
            <a:ext cx="757066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911049" y="3795617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6" name="Shape 23"/>
          <p:cNvSpPr/>
          <p:nvPr/>
        </p:nvSpPr>
        <p:spPr>
          <a:xfrm>
            <a:off x="10082499" y="3795617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7" name="Shape 24"/>
          <p:cNvSpPr/>
          <p:nvPr/>
        </p:nvSpPr>
        <p:spPr>
          <a:xfrm>
            <a:off x="10253949" y="3795617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8" name="Text 25"/>
          <p:cNvSpPr/>
          <p:nvPr/>
        </p:nvSpPr>
        <p:spPr>
          <a:xfrm>
            <a:off x="10520649" y="3756565"/>
            <a:ext cx="179112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tesseraapp · /users</a:t>
            </a:r>
            <a:endParaRPr lang="en-US" sz="1125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49" y="4050316"/>
            <a:ext cx="7570661" cy="43934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1485900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· SCENARIO 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1926336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&amp; invoices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680775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996" y="4801171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customer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952500" y="5211127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0996" y="5331523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an invoice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line items and status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952500" y="5741479"/>
            <a:ext cx="8380952" cy="448056"/>
          </a:xfrm>
          <a:prstGeom prst="roundRect">
            <a:avLst>
              <a:gd name="adj" fmla="val 23384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0996" y="5861875"/>
            <a:ext cx="8315388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 it to the customer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952500" y="6265736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0996" y="6386132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/ invoices to Excel (Apache POI)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952500" y="6986588"/>
            <a:ext cx="1701832" cy="428244"/>
          </a:xfrm>
          <a:prstGeom prst="roundRect">
            <a:avLst>
              <a:gd name="adj" fmla="val 50000"/>
            </a:avLst>
          </a:prstGeom>
          <a:solidFill>
            <a:srgbClr val="34D399">
              <a:alpha val="10000"/>
            </a:srgbClr>
          </a:solidFill>
          <a:ln w="6096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8621" y="7148322"/>
            <a:ext cx="104775" cy="10477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1368171" y="7087933"/>
            <a:ext cx="1156240" cy="26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752552" y="4172712"/>
            <a:ext cx="7582852" cy="3750088"/>
          </a:xfrm>
          <a:prstGeom prst="roundRect">
            <a:avLst>
              <a:gd name="adj" fmla="val 4064"/>
            </a:avLst>
          </a:prstGeom>
          <a:solidFill>
            <a:srgbClr val="0F131C"/>
          </a:solidFill>
          <a:ln w="6096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5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758649" y="4178808"/>
            <a:ext cx="7570661" cy="398526"/>
          </a:xfrm>
          <a:prstGeom prst="rect">
            <a:avLst/>
          </a:prstGeom>
          <a:solidFill>
            <a:srgbClr val="0F131C"/>
          </a:solidFill>
          <a:ln/>
        </p:spPr>
      </p:sp>
      <p:sp>
        <p:nvSpPr>
          <p:cNvPr id="22" name="Shape 19"/>
          <p:cNvSpPr/>
          <p:nvPr/>
        </p:nvSpPr>
        <p:spPr>
          <a:xfrm>
            <a:off x="9758649" y="4571238"/>
            <a:ext cx="757066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9911049" y="4322635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4" name="Shape 21"/>
          <p:cNvSpPr/>
          <p:nvPr/>
        </p:nvSpPr>
        <p:spPr>
          <a:xfrm>
            <a:off x="10082499" y="4322635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5" name="Shape 22"/>
          <p:cNvSpPr/>
          <p:nvPr/>
        </p:nvSpPr>
        <p:spPr>
          <a:xfrm>
            <a:off x="10253949" y="4322635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6" name="Text 23"/>
          <p:cNvSpPr/>
          <p:nvPr/>
        </p:nvSpPr>
        <p:spPr>
          <a:xfrm>
            <a:off x="10520649" y="4283583"/>
            <a:ext cx="254529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tesseraapp · /customers/new</a:t>
            </a:r>
            <a:endParaRPr lang="en-US" sz="1125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49" y="4577334"/>
            <a:ext cx="7570661" cy="33393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1485900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· SCENARIO 4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1926336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login (OAuth2)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5823299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996" y="5943695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with Google / GitHub / Microsoft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952500" y="6353651"/>
            <a:ext cx="8380952" cy="448056"/>
          </a:xfrm>
          <a:prstGeom prst="roundRect">
            <a:avLst>
              <a:gd name="adj" fmla="val 23384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0996" y="6474047"/>
            <a:ext cx="8315388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redirect → authorization-code exchange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952500" y="6877907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0996" y="6998303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Find-or-create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local user → our own JWT issued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952500" y="7408259"/>
            <a:ext cx="8380952" cy="454152"/>
          </a:xfrm>
          <a:prstGeom prst="roundRect">
            <a:avLst>
              <a:gd name="adj" fmla="val 23070"/>
            </a:avLst>
          </a:prstGeom>
          <a:solidFill>
            <a:srgbClr val="FFFFFF">
              <a:alpha val="2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0996" y="7528655"/>
            <a:ext cx="831538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Federated session appears in the </a:t>
            </a:r>
            <a:pPr algn="l" indent="0" marL="0">
              <a:buNone/>
            </a:pPr>
            <a:r>
              <a:rPr lang="en-US" sz="1275" b="1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list </a:t>
            </a:r>
            <a:pPr algn="l" indent="0" marL="0">
              <a:buNone/>
            </a:pPr>
            <a:r>
              <a:rPr lang="en-US" sz="1275" dirty="0">
                <a:solidFill>
                  <a:srgbClr val="8A93A6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an in-house one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952500" y="8129111"/>
            <a:ext cx="5781675" cy="428244"/>
          </a:xfrm>
          <a:prstGeom prst="roundRect">
            <a:avLst>
              <a:gd name="adj" fmla="val 50000"/>
            </a:avLst>
          </a:prstGeom>
          <a:solidFill>
            <a:srgbClr val="FBBF24">
              <a:alpha val="10000"/>
            </a:srgbClr>
          </a:solidFill>
          <a:ln w="6096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8621" y="8290846"/>
            <a:ext cx="104775" cy="104775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6"/>
          <p:cNvSpPr/>
          <p:nvPr/>
        </p:nvSpPr>
        <p:spPr>
          <a:xfrm>
            <a:off x="1368171" y="8230457"/>
            <a:ext cx="5314679" cy="26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IF PROVIDER CREDENTIALS ARE CONFIGURED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752552" y="2608707"/>
            <a:ext cx="7582852" cy="9163335"/>
          </a:xfrm>
          <a:prstGeom prst="roundRect">
            <a:avLst>
              <a:gd name="adj" fmla="val 2010"/>
            </a:avLst>
          </a:prstGeom>
          <a:solidFill>
            <a:srgbClr val="0F131C"/>
          </a:solidFill>
          <a:ln w="6096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5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758649" y="2614803"/>
            <a:ext cx="7570661" cy="398526"/>
          </a:xfrm>
          <a:prstGeom prst="rect">
            <a:avLst/>
          </a:prstGeom>
          <a:solidFill>
            <a:srgbClr val="0F131C"/>
          </a:solidFill>
          <a:ln/>
        </p:spPr>
      </p:sp>
      <p:sp>
        <p:nvSpPr>
          <p:cNvPr id="22" name="Shape 19"/>
          <p:cNvSpPr/>
          <p:nvPr/>
        </p:nvSpPr>
        <p:spPr>
          <a:xfrm>
            <a:off x="9758649" y="3007233"/>
            <a:ext cx="757066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9911049" y="2758630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4" name="Shape 21"/>
          <p:cNvSpPr/>
          <p:nvPr/>
        </p:nvSpPr>
        <p:spPr>
          <a:xfrm>
            <a:off x="10082499" y="2758630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5" name="Shape 22"/>
          <p:cNvSpPr/>
          <p:nvPr/>
        </p:nvSpPr>
        <p:spPr>
          <a:xfrm>
            <a:off x="10253949" y="2758630"/>
            <a:ext cx="104775" cy="104775"/>
          </a:xfrm>
          <a:prstGeom prst="ellipse">
            <a:avLst/>
          </a:prstGeom>
          <a:solidFill>
            <a:srgbClr val="2A3140"/>
          </a:solidFill>
          <a:ln/>
        </p:spPr>
      </p:sp>
      <p:sp>
        <p:nvSpPr>
          <p:cNvPr id="26" name="Text 23"/>
          <p:cNvSpPr/>
          <p:nvPr/>
        </p:nvSpPr>
        <p:spPr>
          <a:xfrm>
            <a:off x="10520649" y="2719578"/>
            <a:ext cx="179112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tesseraapp · /login</a:t>
            </a:r>
            <a:endParaRPr lang="en-US" sz="1125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49" y="3013329"/>
            <a:ext cx="7570661" cy="87526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467671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908107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spec — and beyond it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704779"/>
            <a:ext cx="5334000" cy="1432560"/>
          </a:xfrm>
          <a:prstGeom prst="roundRect">
            <a:avLst>
              <a:gd name="adj" fmla="val 11968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3396" y="4977575"/>
            <a:ext cx="51834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96"/>
              </a:lnSpc>
              <a:buNone/>
            </a:pPr>
            <a:r>
              <a:rPr lang="en-US" sz="4650" b="1" spc="-93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650" dirty="0"/>
          </a:p>
        </p:txBody>
      </p:sp>
      <p:sp>
        <p:nvSpPr>
          <p:cNvPr id="11" name="Text 8"/>
          <p:cNvSpPr/>
          <p:nvPr/>
        </p:nvSpPr>
        <p:spPr>
          <a:xfrm>
            <a:off x="1263396" y="5663375"/>
            <a:ext cx="5183429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 ROLES ENFORCED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77000" y="4704779"/>
            <a:ext cx="5334000" cy="1432560"/>
          </a:xfrm>
          <a:prstGeom prst="roundRect">
            <a:avLst>
              <a:gd name="adj" fmla="val 11968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7896" y="4977575"/>
            <a:ext cx="51834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96"/>
              </a:lnSpc>
              <a:buNone/>
            </a:pPr>
            <a:r>
              <a:rPr lang="en-US" sz="4650" b="1" spc="-93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50" dirty="0"/>
          </a:p>
        </p:txBody>
      </p:sp>
      <p:sp>
        <p:nvSpPr>
          <p:cNvPr id="14" name="Text 11"/>
          <p:cNvSpPr/>
          <p:nvPr/>
        </p:nvSpPr>
        <p:spPr>
          <a:xfrm>
            <a:off x="6787896" y="5663375"/>
            <a:ext cx="5183429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WAYS TO AUTHENTICATE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2001500" y="4704779"/>
            <a:ext cx="5334000" cy="1432560"/>
          </a:xfrm>
          <a:prstGeom prst="roundRect">
            <a:avLst>
              <a:gd name="adj" fmla="val 11968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12396" y="4977575"/>
            <a:ext cx="51834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96"/>
              </a:lnSpc>
              <a:buNone/>
            </a:pPr>
            <a:r>
              <a:rPr lang="en-US" sz="4650" b="1" spc="-93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50" dirty="0"/>
          </a:p>
        </p:txBody>
      </p:sp>
      <p:sp>
        <p:nvSpPr>
          <p:cNvPr id="17" name="Text 14"/>
          <p:cNvSpPr/>
          <p:nvPr/>
        </p:nvSpPr>
        <p:spPr>
          <a:xfrm>
            <a:off x="12312396" y="5663375"/>
            <a:ext cx="5183429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SCREENS BUILT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508813"/>
            <a:ext cx="257175" cy="36004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00175" y="6461188"/>
            <a:ext cx="8860677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MFA + RBAC + admin + business domain + audit — working end to end.</a:t>
            </a:r>
            <a:endParaRPr lang="en-US" sz="1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7145083"/>
            <a:ext cx="257175" cy="36004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00175" y="7097458"/>
            <a:ext cx="12871508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MFA and refresh rotation with reuse detection — both were </a:t>
            </a:r>
            <a:pPr algn="l" indent="0" marL="0">
              <a:lnSpc>
                <a:spcPct val="121011"/>
              </a:lnSpc>
              <a:buNone/>
            </a:pPr>
            <a:r>
              <a:rPr lang="en-US" sz="19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"planned" stretch goals in the SRS </a:t>
            </a:r>
            <a:pPr algn="l" indent="0" marL="0">
              <a:lnSpc>
                <a:spcPct val="121011"/>
              </a:lnSpc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shipped.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4027741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 &amp; LESSONS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468177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build taught us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312473"/>
            <a:ext cx="257175" cy="3600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5264848"/>
            <a:ext cx="9797929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Migration-tool baseline drift → switched to an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schema script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948743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901118"/>
            <a:ext cx="13831975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identifier-quoting pitfalls →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column mappings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identity domain kept on hand-written SQL.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585013"/>
            <a:ext cx="257175" cy="3600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6537388"/>
            <a:ext cx="10957788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reuse detection to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commit-then-throw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never roll back the revocation.</a:t>
            </a:r>
            <a:endParaRPr lang="en-US" sz="21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259646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LEFT — SAID OUT LOUD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3700081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gaps, clear next steps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952500" y="4496752"/>
            <a:ext cx="8096250" cy="1512951"/>
          </a:xfrm>
          <a:prstGeom prst="roundRect">
            <a:avLst>
              <a:gd name="adj" fmla="val 1133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96" y="4769548"/>
            <a:ext cx="247650" cy="2865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5346" y="4769548"/>
            <a:ext cx="1373981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CI/CD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263396" y="5141786"/>
            <a:ext cx="7698691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Docker exists; ship the same image to ECR/ECS/RDS behind TLS with automated deploy.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239250" y="4496752"/>
            <a:ext cx="8096250" cy="1512951"/>
          </a:xfrm>
          <a:prstGeom prst="roundRect">
            <a:avLst>
              <a:gd name="adj" fmla="val 1133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146" y="4769548"/>
            <a:ext cx="247650" cy="2865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12096" y="4769548"/>
            <a:ext cx="2016919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&amp; federation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9550146" y="5141786"/>
            <a:ext cx="7698691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delivery is stubbed; federation code is complete but needs real provider credentials.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952500" y="6200204"/>
            <a:ext cx="8096250" cy="1512951"/>
          </a:xfrm>
          <a:prstGeom prst="roundRect">
            <a:avLst>
              <a:gd name="adj" fmla="val 1133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396" y="6472999"/>
            <a:ext cx="247650" cy="2865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25346" y="6472999"/>
            <a:ext cx="1232154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in CI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263396" y="6845236"/>
            <a:ext cx="8221903" cy="33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security/integration suite and run it in the pipeline, not just locally.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9239250" y="6200204"/>
            <a:ext cx="8096250" cy="1512951"/>
          </a:xfrm>
          <a:prstGeom prst="roundRect">
            <a:avLst>
              <a:gd name="adj" fmla="val 11332"/>
            </a:avLst>
          </a:prstGeom>
          <a:solidFill>
            <a:srgbClr val="141925">
              <a:alpha val="66000"/>
            </a:srgbClr>
          </a:solidFill>
          <a:ln w="6096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146" y="6472999"/>
            <a:ext cx="247650" cy="2865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12096" y="6472999"/>
            <a:ext cx="1218819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950" dirty="0"/>
          </a:p>
        </p:txBody>
      </p:sp>
      <p:sp>
        <p:nvSpPr>
          <p:cNvPr id="24" name="Text 17"/>
          <p:cNvSpPr/>
          <p:nvPr/>
        </p:nvSpPr>
        <p:spPr>
          <a:xfrm>
            <a:off x="9550146" y="6845236"/>
            <a:ext cx="7698691" cy="63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60"/>
              </a:lnSpc>
              <a:buNone/>
            </a:pPr>
            <a:r>
              <a:rPr lang="en-US" sz="16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org-scope on analytics/billing; a general rate limiter; env-driven config.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80010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76200" dir="5400000">
              <a:srgbClr val="6B5BFF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83539"/>
            <a:ext cx="171450" cy="19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9225" y="877443"/>
            <a:ext cx="1013650" cy="245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7122140" y="880491"/>
            <a:ext cx="289560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841813"/>
            <a:ext cx="18021300" cy="28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30" kern="0" dirty="0">
                <a:solidFill>
                  <a:srgbClr val="867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500" y="4282249"/>
            <a:ext cx="18021300" cy="56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8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CIAM core, end to end</a:t>
            </a:r>
            <a:endParaRPr lang="en-US" sz="3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126545"/>
            <a:ext cx="257175" cy="3600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0175" y="5078920"/>
            <a:ext cx="10730322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modern CIAM core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real application, validated against the SRS.</a:t>
            </a:r>
            <a:endParaRPr lang="en-US" sz="21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762815"/>
            <a:ext cx="257175" cy="3600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175" y="5715190"/>
            <a:ext cx="11160214" cy="44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stateless / stateful auth balances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and control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zero-trust in practice.</a:t>
            </a:r>
            <a:endParaRPr lang="en-US" sz="21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399086"/>
            <a:ext cx="257175" cy="7319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175" y="6351461"/>
            <a:ext cx="16413385" cy="817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"build beats buy" — but for the </a:t>
            </a:r>
            <a:pPr algn="l" indent="0" marL="0">
              <a:lnSpc>
                <a:spcPct val="121995"/>
              </a:lnSpc>
              <a:buNone/>
            </a:pPr>
            <a:r>
              <a:rPr lang="en-US" sz="2175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small-scale segment </a:t>
            </a:r>
            <a:pPr algn="l" indent="0" marL="0">
              <a:lnSpc>
                <a:spcPct val="121995"/>
              </a:lnSpc>
              <a:buNone/>
            </a:pPr>
            <a:r>
              <a:rPr lang="en-US" sz="2175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building in-house is defensible, and we showed it can be built correctly.</a:t>
            </a:r>
            <a:endParaRPr lang="en-US" sz="21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B5BFF">
                  <a:alpha val="16000"/>
                </a:srgbClr>
              </a:gs>
              <a:gs pos="60000">
                <a:srgbClr val="6B5BFF">
                  <a:alpha val="0"/>
                </a:srgbClr>
              </a:gs>
            </a:gsLst>
            <a:path path="circle">
              <a:fillToRect l="10000" t="0" r="9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2799016"/>
            <a:ext cx="552450" cy="552450"/>
          </a:xfrm>
          <a:prstGeom prst="roundRect">
            <a:avLst>
              <a:gd name="adj" fmla="val 27586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8674FF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381000" dist="114300" dir="5400000">
              <a:srgbClr val="6B5BFF">
                <a:alpha val="4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2922841"/>
            <a:ext cx="2667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7350" y="2910649"/>
            <a:ext cx="1596981" cy="36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algn="l" indent="0" marL="0">
              <a:buNone/>
            </a:pPr>
            <a:r>
              <a:rPr lang="en-US" sz="2250" b="1" spc="-45" kern="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952500" y="3808666"/>
            <a:ext cx="18021300" cy="890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7"/>
              </a:lnSpc>
              <a:buNone/>
            </a:pPr>
            <a:r>
              <a:rPr lang="en-US" sz="6450" b="1" spc="-16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952500" y="4832032"/>
            <a:ext cx="512926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35"/>
              </a:lnSpc>
              <a:buNone/>
            </a:pPr>
            <a:r>
              <a:rPr lang="en-US" sz="2550" dirty="0">
                <a:solidFill>
                  <a:srgbClr val="86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52500" y="5946457"/>
            <a:ext cx="8763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B5BFF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952500" y="6784657"/>
            <a:ext cx="4132326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2500" y="7042975"/>
            <a:ext cx="4132326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C. Oliver, Jr. · Travis L. Lester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28260" y="6784657"/>
            <a:ext cx="3519183" cy="239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5B64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8260" y="7042975"/>
            <a:ext cx="3519183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CPSC 69100 · Lewis University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2026-07-21T03:36:36Z</dcterms:created>
  <dcterms:modified xsi:type="dcterms:W3CDTF">2026-07-21T03:36:36Z</dcterms:modified>
</cp:coreProperties>
</file>